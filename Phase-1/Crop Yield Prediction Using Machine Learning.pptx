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3" d="100"/>
          <a:sy n="63" d="100"/>
        </p:scale>
        <p:origin x="1426" y="43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4CE881-CE90-43F6-8E2C-B30D1314A53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D890D5-535E-4C32-9225-447C74555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573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890D5-535E-4C32-9225-447C74555CE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630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jpg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9" Type="http://schemas.openxmlformats.org/officeDocument/2006/relationships/image" Target="../media/image6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jpg"/><Relationship Id="rId3" Type="http://schemas.openxmlformats.org/officeDocument/2006/relationships/image" Target="../media/image64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54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2.jp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3B1E">
                  <a:alpha val="85000"/>
                </a:srgbClr>
              </a:gs>
              <a:gs pos="100000">
                <a:srgbClr val="004D40">
                  <a:alpha val="75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19169" y="1676400"/>
            <a:ext cx="9753356" cy="1466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940"/>
              </a:lnSpc>
              <a:spcBef>
                <a:spcPts val="0"/>
              </a:spcBef>
              <a:spcAft>
                <a:spcPts val="1950"/>
              </a:spcAft>
            </a:pPr>
            <a:r>
              <a:rPr sz="3827" b="1">
                <a:solidFill>
                  <a:srgbClr val="FFFFFF"/>
                </a:solidFill>
              </a:rPr>
              <a:t>Crop Yield Prediction Using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169" y="3429000"/>
            <a:ext cx="9753356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600"/>
              </a:spcAft>
            </a:pPr>
            <a:r>
              <a:rPr sz="1196" b="0">
                <a:solidFill>
                  <a:srgbClr val="E0F2F1"/>
                </a:solidFill>
              </a:rPr>
              <a:t>A data-driven approach to enhance agricultural productivity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5232" y="4270057"/>
            <a:ext cx="228594" cy="1657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074" y="4238624"/>
            <a:ext cx="2457388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Submitted by: </a:t>
            </a:r>
            <a:r>
              <a:rPr sz="1196" b="1">
                <a:solidFill>
                  <a:srgbClr val="A5D6A7"/>
                </a:solidFill>
              </a:rPr>
              <a:t>Pushkarjay Ajay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9964" y="4633912"/>
            <a:ext cx="228594" cy="142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33806" y="4591050"/>
            <a:ext cx="3057448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Under guidance of: </a:t>
            </a:r>
            <a:r>
              <a:rPr sz="1196" b="1">
                <a:solidFill>
                  <a:srgbClr val="A5D6A7"/>
                </a:solidFill>
              </a:rPr>
              <a:t>Bhargavesh Dakka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4301" y="4969192"/>
            <a:ext cx="228594" cy="1771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48143" y="4943475"/>
            <a:ext cx="2028774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Submitted to: </a:t>
            </a:r>
            <a:r>
              <a:rPr sz="1196" b="1">
                <a:solidFill>
                  <a:srgbClr val="A5D6A7"/>
                </a:solidFill>
              </a:rPr>
              <a:t>SURE Trust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</a:rPr>
              <a:t>Agenda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C7DC8AB-F6DE-1107-08A4-0BD434A7ED9F}"/>
              </a:ext>
            </a:extLst>
          </p:cNvPr>
          <p:cNvGrpSpPr/>
          <p:nvPr/>
        </p:nvGrpSpPr>
        <p:grpSpPr>
          <a:xfrm>
            <a:off x="607533" y="1149990"/>
            <a:ext cx="10976627" cy="5495924"/>
            <a:chOff x="666733" y="1143000"/>
            <a:chExt cx="10858228" cy="7096125"/>
          </a:xfrm>
        </p:grpSpPr>
        <p:sp>
          <p:nvSpPr>
            <p:cNvPr id="4" name="Rounded Rectangle 3"/>
            <p:cNvSpPr/>
            <p:nvPr/>
          </p:nvSpPr>
          <p:spPr>
            <a:xfrm>
              <a:off x="666733" y="1143000"/>
              <a:ext cx="3467013" cy="1838324"/>
            </a:xfrm>
            <a:prstGeom prst="roundRect">
              <a:avLst>
                <a:gd name="adj" fmla="val 12435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095447" y="1371600"/>
              <a:ext cx="609584" cy="609600"/>
            </a:xfrm>
            <a:prstGeom prst="roundRect">
              <a:avLst>
                <a:gd name="adj" fmla="val 50000"/>
              </a:avLst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6" name="Picture 5" descr="image.png"/>
            <p:cNvPicPr>
              <a:picLocks noChangeAspect="1"/>
            </p:cNvPicPr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247843" y="1559169"/>
              <a:ext cx="304792" cy="234461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2276418" y="2133599"/>
              <a:ext cx="238119" cy="2952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520"/>
                </a:spcAft>
              </a:pPr>
              <a:r>
                <a:rPr sz="1435" b="1">
                  <a:solidFill>
                    <a:srgbClr val="1B5E20"/>
                  </a:solidFill>
                </a:rPr>
                <a:t>01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600159" y="2505074"/>
              <a:ext cx="1590635" cy="24764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lnSpc>
                  <a:spcPts val="169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6" b="1">
                  <a:solidFill>
                    <a:srgbClr val="2E7D32"/>
                  </a:solidFill>
                </a:rPr>
                <a:t>Problem Statement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362340" y="1143000"/>
              <a:ext cx="3467013" cy="1838324"/>
            </a:xfrm>
            <a:prstGeom prst="roundRect">
              <a:avLst>
                <a:gd name="adj" fmla="val 12435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791055" y="1371600"/>
              <a:ext cx="609584" cy="609600"/>
            </a:xfrm>
            <a:prstGeom prst="roundRect">
              <a:avLst>
                <a:gd name="adj" fmla="val 50000"/>
              </a:avLst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1" name="Picture 10" descr="image.png"/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943451" y="1547446"/>
              <a:ext cx="304792" cy="257907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5972025" y="2133599"/>
              <a:ext cx="238119" cy="2952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520"/>
                </a:spcAft>
              </a:pPr>
              <a:r>
                <a:rPr sz="1435" b="1">
                  <a:solidFill>
                    <a:srgbClr val="1B5E20"/>
                  </a:solidFill>
                </a:rPr>
                <a:t>02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143371" y="2505074"/>
              <a:ext cx="1914477" cy="24764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lnSpc>
                  <a:spcPts val="169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6" b="1">
                  <a:solidFill>
                    <a:srgbClr val="2E7D32"/>
                  </a:solidFill>
                </a:rPr>
                <a:t>Objective of the Project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057948" y="1143000"/>
              <a:ext cx="3467013" cy="1838324"/>
            </a:xfrm>
            <a:prstGeom prst="roundRect">
              <a:avLst>
                <a:gd name="adj" fmla="val 12435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486662" y="1371600"/>
              <a:ext cx="609584" cy="609600"/>
            </a:xfrm>
            <a:prstGeom prst="roundRect">
              <a:avLst>
                <a:gd name="adj" fmla="val 50000"/>
              </a:avLst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6" name="Picture 15" descr="image.png"/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639059" y="1559169"/>
              <a:ext cx="304792" cy="234461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9667633" y="2133599"/>
              <a:ext cx="238119" cy="2952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520"/>
                </a:spcAft>
              </a:pPr>
              <a:r>
                <a:rPr sz="1435" b="1">
                  <a:solidFill>
                    <a:srgbClr val="1B5E20"/>
                  </a:solidFill>
                </a:rPr>
                <a:t>03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077098" y="2505074"/>
              <a:ext cx="1438239" cy="24764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lnSpc>
                  <a:spcPts val="169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6" b="1">
                  <a:solidFill>
                    <a:srgbClr val="2E7D32"/>
                  </a:solidFill>
                </a:rPr>
                <a:t>Dataset Overview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66733" y="3209925"/>
              <a:ext cx="3467013" cy="1838324"/>
            </a:xfrm>
            <a:prstGeom prst="roundRect">
              <a:avLst>
                <a:gd name="adj" fmla="val 12435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2095447" y="3438525"/>
              <a:ext cx="609584" cy="609600"/>
            </a:xfrm>
            <a:prstGeom prst="roundRect">
              <a:avLst>
                <a:gd name="adj" fmla="val 50000"/>
              </a:avLst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1" name="Picture 20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247843" y="3599717"/>
              <a:ext cx="304792" cy="287215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2276418" y="4200525"/>
              <a:ext cx="238119" cy="2952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520"/>
                </a:spcAft>
              </a:pPr>
              <a:r>
                <a:rPr sz="1435" b="1">
                  <a:solidFill>
                    <a:srgbClr val="1B5E20"/>
                  </a:solidFill>
                </a:rPr>
                <a:t>04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609684" y="4572000"/>
              <a:ext cx="1571585" cy="24764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lnSpc>
                  <a:spcPts val="169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6" b="1">
                  <a:solidFill>
                    <a:srgbClr val="2E7D32"/>
                  </a:solidFill>
                </a:rPr>
                <a:t>Data Preprocessing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362340" y="3209925"/>
              <a:ext cx="3467013" cy="1838324"/>
            </a:xfrm>
            <a:prstGeom prst="roundRect">
              <a:avLst>
                <a:gd name="adj" fmla="val 12435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5791055" y="3438525"/>
              <a:ext cx="609584" cy="609600"/>
            </a:xfrm>
            <a:prstGeom prst="roundRect">
              <a:avLst>
                <a:gd name="adj" fmla="val 50000"/>
              </a:avLst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6" name="Picture 25" descr="image.png"/>
            <p:cNvPicPr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943451" y="3626094"/>
              <a:ext cx="304792" cy="234461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5972025" y="4200525"/>
              <a:ext cx="238119" cy="2952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520"/>
                </a:spcAft>
              </a:pPr>
              <a:r>
                <a:rPr sz="1435" b="1">
                  <a:solidFill>
                    <a:srgbClr val="1B5E20"/>
                  </a:solidFill>
                </a:rPr>
                <a:t>05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057648" y="4572000"/>
              <a:ext cx="2076398" cy="24764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lnSpc>
                  <a:spcPts val="169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6" b="1">
                  <a:solidFill>
                    <a:srgbClr val="2E7D32"/>
                  </a:solidFill>
                </a:rPr>
                <a:t>Exploratory Data Analysis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8057948" y="3209925"/>
              <a:ext cx="3467013" cy="1838324"/>
            </a:xfrm>
            <a:prstGeom prst="roundRect">
              <a:avLst>
                <a:gd name="adj" fmla="val 12435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486662" y="3438525"/>
              <a:ext cx="609584" cy="609600"/>
            </a:xfrm>
            <a:prstGeom prst="roundRect">
              <a:avLst>
                <a:gd name="adj" fmla="val 50000"/>
              </a:avLst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1" name="Picture 30" descr="image.png"/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9639059" y="3612905"/>
              <a:ext cx="304792" cy="260838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9667633" y="4200525"/>
              <a:ext cx="238119" cy="2952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520"/>
                </a:spcAft>
              </a:pPr>
              <a:r>
                <a:rPr sz="1435" b="1">
                  <a:solidFill>
                    <a:srgbClr val="1B5E20"/>
                  </a:solidFill>
                </a:rPr>
                <a:t>06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734206" y="4572000"/>
              <a:ext cx="2114497" cy="24764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lnSpc>
                  <a:spcPts val="169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6" b="1">
                  <a:solidFill>
                    <a:srgbClr val="2E7D32"/>
                  </a:solidFill>
                </a:rPr>
                <a:t>ML Models &amp; Performance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666733" y="5276850"/>
              <a:ext cx="3467013" cy="1838324"/>
            </a:xfrm>
            <a:prstGeom prst="roundRect">
              <a:avLst>
                <a:gd name="adj" fmla="val 12435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2095447" y="5505450"/>
              <a:ext cx="609584" cy="609600"/>
            </a:xfrm>
            <a:prstGeom prst="roundRect">
              <a:avLst>
                <a:gd name="adj" fmla="val 50000"/>
              </a:avLst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6" name="Picture 35" descr="image.png"/>
            <p:cNvPicPr>
              <a:picLocks noChangeAspect="1"/>
            </p:cNvPicPr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247843" y="5693019"/>
              <a:ext cx="304792" cy="234461"/>
            </a:xfrm>
            <a:prstGeom prst="rect">
              <a:avLst/>
            </a:prstGeom>
          </p:spPr>
        </p:pic>
        <p:sp>
          <p:nvSpPr>
            <p:cNvPr id="37" name="TextBox 36"/>
            <p:cNvSpPr txBox="1"/>
            <p:nvPr/>
          </p:nvSpPr>
          <p:spPr>
            <a:xfrm>
              <a:off x="2276418" y="6267449"/>
              <a:ext cx="238119" cy="2952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520"/>
                </a:spcAft>
              </a:pPr>
              <a:r>
                <a:rPr sz="1435" b="1">
                  <a:solidFill>
                    <a:srgbClr val="1B5E20"/>
                  </a:solidFill>
                </a:rPr>
                <a:t>07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600159" y="6638924"/>
              <a:ext cx="1609684" cy="24764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lnSpc>
                  <a:spcPts val="169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6" b="1">
                  <a:solidFill>
                    <a:srgbClr val="2E7D32"/>
                  </a:solidFill>
                </a:rPr>
                <a:t>Feature Importance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4362340" y="5276850"/>
              <a:ext cx="3467013" cy="1838324"/>
            </a:xfrm>
            <a:prstGeom prst="roundRect">
              <a:avLst>
                <a:gd name="adj" fmla="val 12435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5791055" y="5505450"/>
              <a:ext cx="609584" cy="609600"/>
            </a:xfrm>
            <a:prstGeom prst="roundRect">
              <a:avLst>
                <a:gd name="adj" fmla="val 50000"/>
              </a:avLst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41" name="Picture 40" descr="image.png"/>
            <p:cNvPicPr>
              <a:picLocks noChangeAspect="1"/>
            </p:cNvPicPr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943451" y="5693019"/>
              <a:ext cx="304792" cy="234461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5972025" y="6267449"/>
              <a:ext cx="238119" cy="2952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520"/>
                </a:spcAft>
              </a:pPr>
              <a:r>
                <a:rPr sz="1435" b="1">
                  <a:solidFill>
                    <a:srgbClr val="1B5E20"/>
                  </a:solidFill>
                </a:rPr>
                <a:t>08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038599" y="6638924"/>
              <a:ext cx="2114497" cy="24764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lnSpc>
                  <a:spcPts val="169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6" b="1">
                  <a:solidFill>
                    <a:srgbClr val="2E7D32"/>
                  </a:solidFill>
                </a:rPr>
                <a:t>Conclusion &amp; Future Work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8057948" y="5276850"/>
              <a:ext cx="3467013" cy="1838324"/>
            </a:xfrm>
            <a:prstGeom prst="roundRect">
              <a:avLst>
                <a:gd name="adj" fmla="val 12435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486662" y="5505450"/>
              <a:ext cx="609584" cy="609600"/>
            </a:xfrm>
            <a:prstGeom prst="roundRect">
              <a:avLst>
                <a:gd name="adj" fmla="val 50000"/>
              </a:avLst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46" name="Picture 45" descr="image.png"/>
            <p:cNvPicPr>
              <a:picLocks noChangeAspect="1"/>
            </p:cNvPicPr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9639059" y="5690088"/>
              <a:ext cx="304792" cy="240323"/>
            </a:xfrm>
            <a:prstGeom prst="rect">
              <a:avLst/>
            </a:prstGeom>
          </p:spPr>
        </p:pic>
        <p:sp>
          <p:nvSpPr>
            <p:cNvPr id="47" name="TextBox 46"/>
            <p:cNvSpPr txBox="1"/>
            <p:nvPr/>
          </p:nvSpPr>
          <p:spPr>
            <a:xfrm>
              <a:off x="9667633" y="6267449"/>
              <a:ext cx="238119" cy="2952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520"/>
                </a:spcAft>
              </a:pPr>
              <a:r>
                <a:rPr sz="1435" b="1">
                  <a:solidFill>
                    <a:srgbClr val="1B5E20"/>
                  </a:solidFill>
                </a:rPr>
                <a:t>09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8991375" y="6638924"/>
              <a:ext cx="1609684" cy="24764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lnSpc>
                  <a:spcPts val="169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6" b="1">
                  <a:solidFill>
                    <a:srgbClr val="2E7D32"/>
                  </a:solidFill>
                </a:rPr>
                <a:t>Acknowledgements</a:t>
              </a:r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666733" y="7400925"/>
              <a:ext cx="10858228" cy="838200"/>
            </a:xfrm>
            <a:prstGeom prst="roundRect">
              <a:avLst>
                <a:gd name="adj" fmla="val 27272"/>
              </a:avLst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857228" y="7591424"/>
              <a:ext cx="457188" cy="457200"/>
            </a:xfrm>
            <a:prstGeom prst="roundRect">
              <a:avLst>
                <a:gd name="adj" fmla="val 50000"/>
              </a:avLst>
            </a:prstGeom>
            <a:solidFill>
              <a:srgbClr val="C8E6C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51" name="Picture 50" descr="image.png"/>
            <p:cNvPicPr>
              <a:picLocks noChangeAspect="1"/>
            </p:cNvPicPr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952476" y="7718563"/>
              <a:ext cx="266693" cy="202923"/>
            </a:xfrm>
            <a:prstGeom prst="rect">
              <a:avLst/>
            </a:prstGeom>
          </p:spPr>
        </p:pic>
        <p:sp>
          <p:nvSpPr>
            <p:cNvPr id="52" name="TextBox 51"/>
            <p:cNvSpPr txBox="1"/>
            <p:nvPr/>
          </p:nvSpPr>
          <p:spPr>
            <a:xfrm>
              <a:off x="1466813" y="7677149"/>
              <a:ext cx="6734006" cy="2952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15" b="1">
                  <a:solidFill>
                    <a:srgbClr val="1B5E20"/>
                  </a:solidFill>
                </a:rPr>
                <a:t>Using Machine Learning to predict crop yield and support smart agriculture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</a:rPr>
              <a:t>Problem Statement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2010189"/>
            <a:ext cx="266693" cy="2087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5822" y="1981199"/>
            <a:ext cx="4867153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2E7D32"/>
                </a:solidFill>
              </a:rPr>
              <a:t>Why Predict Crop Yield?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5822" y="2343150"/>
            <a:ext cx="4867153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Essential for </a:t>
            </a:r>
            <a:r>
              <a:rPr sz="1196" b="1">
                <a:solidFill>
                  <a:srgbClr val="1B5E20"/>
                </a:solidFill>
              </a:rPr>
              <a:t>food security</a:t>
            </a:r>
            <a:r>
              <a:rPr sz="1196" b="0">
                <a:solidFill>
                  <a:srgbClr val="333333"/>
                </a:solidFill>
              </a:rPr>
              <a:t>, economic planning, and resource optimization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" y="3129790"/>
            <a:ext cx="266693" cy="2174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5822" y="3105149"/>
            <a:ext cx="4867153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2E7D32"/>
                </a:solidFill>
              </a:rPr>
              <a:t>Farmer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22" y="3486150"/>
            <a:ext cx="4867153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• </a:t>
            </a:r>
            <a:r>
              <a:rPr sz="1196" b="1">
                <a:solidFill>
                  <a:srgbClr val="1B5E20"/>
                </a:solidFill>
              </a:rPr>
              <a:t>Climate variability</a:t>
            </a:r>
            <a:r>
              <a:rPr sz="1196" b="0">
                <a:solidFill>
                  <a:srgbClr val="333333"/>
                </a:solidFill>
              </a:rPr>
              <a:t> affecting growing conditions</a:t>
            </a:r>
            <a:r>
              <a:rPr sz="1104"/>
              <a:t>
</a:t>
            </a:r>
            <a:r>
              <a:rPr sz="1196" b="0">
                <a:solidFill>
                  <a:srgbClr val="333333"/>
                </a:solidFill>
              </a:rPr>
              <a:t> • </a:t>
            </a:r>
            <a:r>
              <a:rPr sz="1196" b="1">
                <a:solidFill>
                  <a:srgbClr val="1B5E20"/>
                </a:solidFill>
              </a:rPr>
              <a:t>Soil differences</a:t>
            </a:r>
            <a:r>
              <a:rPr sz="1196" b="0">
                <a:solidFill>
                  <a:srgbClr val="333333"/>
                </a:solidFill>
              </a:rPr>
              <a:t> across fields</a:t>
            </a:r>
            <a:r>
              <a:rPr sz="1104"/>
              <a:t>
</a:t>
            </a:r>
            <a:r>
              <a:rPr sz="1196" b="0">
                <a:solidFill>
                  <a:srgbClr val="333333"/>
                </a:solidFill>
              </a:rPr>
              <a:t> • </a:t>
            </a:r>
            <a:r>
              <a:rPr sz="1196" b="1">
                <a:solidFill>
                  <a:srgbClr val="1B5E20"/>
                </a:solidFill>
              </a:rPr>
              <a:t>Unknown yield</a:t>
            </a:r>
            <a:r>
              <a:rPr sz="1196" b="0">
                <a:solidFill>
                  <a:srgbClr val="333333"/>
                </a:solidFill>
              </a:rPr>
              <a:t> causing financial uncertainty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733" y="4535142"/>
            <a:ext cx="266693" cy="2261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85822" y="4514850"/>
            <a:ext cx="4867153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2E7D32"/>
                </a:solidFill>
              </a:rPr>
              <a:t>ML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22" y="4876800"/>
            <a:ext cx="4867153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Data-driven predictions using environmental factors to forecast yield with higher 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8719" y="1904999"/>
            <a:ext cx="5286242" cy="3809999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</a:rPr>
              <a:t>Objective of the Project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1737277"/>
            <a:ext cx="266693" cy="1449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5822" y="1676400"/>
            <a:ext cx="4867153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2E7D32"/>
                </a:solidFill>
              </a:rPr>
              <a:t>Predict Yield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5822" y="2047874"/>
            <a:ext cx="4867153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Accurately forecast crop output in </a:t>
            </a:r>
            <a:r>
              <a:rPr sz="1196" b="1">
                <a:solidFill>
                  <a:srgbClr val="1B5E20"/>
                </a:solidFill>
              </a:rPr>
              <a:t>Q/acre</a:t>
            </a:r>
            <a:r>
              <a:rPr sz="1196" b="0">
                <a:solidFill>
                  <a:srgbClr val="333333"/>
                </a:solidFill>
              </a:rPr>
              <a:t> using historical data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" y="2838864"/>
            <a:ext cx="266693" cy="2087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5822" y="2809875"/>
            <a:ext cx="4867153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2E7D32"/>
                </a:solidFill>
              </a:rPr>
              <a:t>Analyze Conditions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22" y="3181350"/>
            <a:ext cx="4867153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Examine </a:t>
            </a:r>
            <a:r>
              <a:rPr sz="1196" b="1">
                <a:solidFill>
                  <a:srgbClr val="1B5E20"/>
                </a:solidFill>
              </a:rPr>
              <a:t>environmental</a:t>
            </a:r>
            <a:r>
              <a:rPr sz="1196" b="0">
                <a:solidFill>
                  <a:srgbClr val="333333"/>
                </a:solidFill>
              </a:rPr>
              <a:t> and </a:t>
            </a:r>
            <a:r>
              <a:rPr sz="1196" b="1">
                <a:solidFill>
                  <a:srgbClr val="1B5E20"/>
                </a:solidFill>
              </a:rPr>
              <a:t>agricultural</a:t>
            </a:r>
            <a:r>
              <a:rPr sz="1196" b="0">
                <a:solidFill>
                  <a:srgbClr val="333333"/>
                </a:solidFill>
              </a:rPr>
              <a:t> factors affecting growth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733" y="3972339"/>
            <a:ext cx="266693" cy="20872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85822" y="3943350"/>
            <a:ext cx="4867153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2E7D32"/>
                </a:solidFill>
              </a:rPr>
              <a:t>Identify Key Factors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22" y="4314825"/>
            <a:ext cx="4867153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Determine which variables have the </a:t>
            </a:r>
            <a:r>
              <a:rPr sz="1196" b="1">
                <a:solidFill>
                  <a:srgbClr val="1B5E20"/>
                </a:solidFill>
              </a:rPr>
              <a:t>strongest influence</a:t>
            </a:r>
            <a:r>
              <a:rPr sz="1196" b="0">
                <a:solidFill>
                  <a:srgbClr val="333333"/>
                </a:solidFill>
              </a:rPr>
              <a:t> on yield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733" y="5095667"/>
            <a:ext cx="266693" cy="22901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5076825"/>
            <a:ext cx="4867153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2E7D32"/>
                </a:solidFill>
              </a:rPr>
              <a:t>Build ML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5448300"/>
            <a:ext cx="486715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Create an </a:t>
            </a:r>
            <a:r>
              <a:rPr sz="1196" b="1">
                <a:solidFill>
                  <a:srgbClr val="1B5E20"/>
                </a:solidFill>
              </a:rPr>
              <a:t>interpretable</a:t>
            </a:r>
            <a:r>
              <a:rPr sz="1196" b="0">
                <a:solidFill>
                  <a:srgbClr val="333333"/>
                </a:solidFill>
              </a:rPr>
              <a:t> model for practical farm use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8719" y="1904999"/>
            <a:ext cx="5286242" cy="3809999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</a:rPr>
              <a:t>Dataset Overview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1886364"/>
            <a:ext cx="266693" cy="2087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7723" y="1847849"/>
            <a:ext cx="2333566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E7D32"/>
                </a:solidFill>
              </a:rPr>
              <a:t>Key Variables in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8719" y="1904999"/>
            <a:ext cx="5286242" cy="3809999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4DB1B8-143B-BDD9-8DAB-27307A5073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911" y="2246779"/>
            <a:ext cx="5642371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</a:rPr>
              <a:t>Data Preprocessing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676400"/>
            <a:ext cx="5286242" cy="89535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19129" y="182880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14377" y="1932746"/>
            <a:ext cx="266693" cy="2493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28714" y="1828800"/>
            <a:ext cx="437186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90"/>
              </a:spcAft>
            </a:pPr>
            <a:r>
              <a:rPr sz="1315" b="1">
                <a:solidFill>
                  <a:srgbClr val="2E7D32"/>
                </a:solidFill>
              </a:rPr>
              <a:t>Remove Invalid 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8714" y="2152650"/>
            <a:ext cx="437186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</a:rPr>
              <a:t>Eliminated temperature entries with </a:t>
            </a:r>
            <a:r>
              <a:rPr sz="1196" b="1">
                <a:solidFill>
                  <a:srgbClr val="1B5E20"/>
                </a:solidFill>
              </a:rPr>
              <a:t>":"</a:t>
            </a:r>
            <a:r>
              <a:rPr sz="1196" b="0">
                <a:solidFill>
                  <a:srgbClr val="555555"/>
                </a:solidFill>
              </a:rPr>
              <a:t> symbol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2800350"/>
            <a:ext cx="5286242" cy="89535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19129" y="295275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377" y="3056696"/>
            <a:ext cx="266693" cy="24930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28714" y="2952750"/>
            <a:ext cx="437186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90"/>
              </a:spcAft>
            </a:pPr>
            <a:r>
              <a:rPr sz="1315" b="1">
                <a:solidFill>
                  <a:srgbClr val="2E7D32"/>
                </a:solidFill>
              </a:rPr>
              <a:t>Data Type Conversion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714" y="3276599"/>
            <a:ext cx="437186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</a:rPr>
              <a:t>Converted temperature column to </a:t>
            </a:r>
            <a:r>
              <a:rPr sz="1196" b="1">
                <a:solidFill>
                  <a:srgbClr val="1B5E20"/>
                </a:solidFill>
              </a:rPr>
              <a:t>float</a:t>
            </a:r>
            <a:r>
              <a:rPr sz="1196" b="0">
                <a:solidFill>
                  <a:srgbClr val="555555"/>
                </a:solidFill>
              </a:rPr>
              <a:t> for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3924299"/>
            <a:ext cx="5286242" cy="89535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19129" y="4076699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377" y="4190792"/>
            <a:ext cx="266693" cy="22901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28714" y="4076699"/>
            <a:ext cx="437186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90"/>
              </a:spcAft>
            </a:pPr>
            <a:r>
              <a:rPr sz="1315" b="1">
                <a:solidFill>
                  <a:srgbClr val="2E7D32"/>
                </a:solidFill>
              </a:rPr>
              <a:t>Handle Missing Values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8714" y="4400550"/>
            <a:ext cx="437186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</a:rPr>
              <a:t>Applied </a:t>
            </a:r>
            <a:r>
              <a:rPr sz="1196" b="1">
                <a:solidFill>
                  <a:srgbClr val="1B5E20"/>
                </a:solidFill>
              </a:rPr>
              <a:t>median imputation</a:t>
            </a:r>
            <a:r>
              <a:rPr sz="1196" b="0">
                <a:solidFill>
                  <a:srgbClr val="555555"/>
                </a:solidFill>
              </a:rPr>
              <a:t> for missing data points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33" y="5048250"/>
            <a:ext cx="5286242" cy="89535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19129" y="520065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4377" y="5310394"/>
            <a:ext cx="266693" cy="23771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28714" y="5200650"/>
            <a:ext cx="437186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90"/>
              </a:spcAft>
            </a:pPr>
            <a:r>
              <a:rPr sz="1315" b="1">
                <a:solidFill>
                  <a:srgbClr val="2E7D32"/>
                </a:solidFill>
              </a:rPr>
              <a:t>Ensure Clean Dataset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8714" y="5524499"/>
            <a:ext cx="437186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</a:rPr>
              <a:t>Verified all data is </a:t>
            </a:r>
            <a:r>
              <a:rPr sz="1196" b="1">
                <a:solidFill>
                  <a:srgbClr val="1B5E20"/>
                </a:solidFill>
              </a:rPr>
              <a:t>numerical</a:t>
            </a:r>
            <a:r>
              <a:rPr sz="1196" b="0">
                <a:solidFill>
                  <a:srgbClr val="555555"/>
                </a:solidFill>
              </a:rPr>
              <a:t> and analysis-ready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8719" y="1904999"/>
            <a:ext cx="5286242" cy="3809999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</a:rPr>
              <a:t>Exploratory Data Analysis - Key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400175"/>
            <a:ext cx="2552636" cy="194310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57228" y="159067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33426" y="1694021"/>
            <a:ext cx="228594" cy="1743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52516" y="1647825"/>
            <a:ext cx="114297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2E7D32"/>
                </a:solidFill>
              </a:rPr>
              <a:t>Two Clusters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28" y="2085975"/>
            <a:ext cx="2171645" cy="10667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</a:rPr>
              <a:t> Data reveals </a:t>
            </a:r>
            <a:r>
              <a:rPr sz="1196" b="1">
                <a:solidFill>
                  <a:srgbClr val="1B5E20"/>
                </a:solidFill>
              </a:rPr>
              <a:t>two distinct groups</a:t>
            </a:r>
            <a:r>
              <a:rPr sz="1196" b="0">
                <a:solidFill>
                  <a:srgbClr val="555555"/>
                </a:solidFill>
              </a:rPr>
              <a:t> suggesting different crop types or growing seasons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9864" y="1400175"/>
            <a:ext cx="2552636" cy="194310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600359" y="159067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6558" y="1712595"/>
            <a:ext cx="228594" cy="13715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095647" y="1647825"/>
            <a:ext cx="161920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2E7D32"/>
                </a:solidFill>
              </a:rPr>
              <a:t>Bi-modal 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359" y="2085975"/>
            <a:ext cx="2171645" cy="10667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</a:rPr>
              <a:t> </a:t>
            </a:r>
            <a:r>
              <a:rPr sz="1196" b="1">
                <a:solidFill>
                  <a:srgbClr val="1B5E20"/>
                </a:solidFill>
              </a:rPr>
              <a:t>Rainfall &amp; Temperature</a:t>
            </a:r>
            <a:r>
              <a:rPr sz="1196" b="0">
                <a:solidFill>
                  <a:srgbClr val="555555"/>
                </a:solidFill>
              </a:rPr>
              <a:t> show two distinct peaks in distribution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3533774"/>
            <a:ext cx="2552636" cy="16764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57228" y="372427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3426" y="3831907"/>
            <a:ext cx="228594" cy="16573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2516" y="3781424"/>
            <a:ext cx="143823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2E7D32"/>
                </a:solidFill>
              </a:rPr>
              <a:t>Nutrient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28" y="4219575"/>
            <a:ext cx="2171645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</a:rPr>
              <a:t> NPK factors show </a:t>
            </a:r>
            <a:r>
              <a:rPr sz="1196" b="1">
                <a:solidFill>
                  <a:srgbClr val="1B5E20"/>
                </a:solidFill>
              </a:rPr>
              <a:t>partial influence</a:t>
            </a:r>
            <a:r>
              <a:rPr sz="1196" b="0">
                <a:solidFill>
                  <a:srgbClr val="555555"/>
                </a:solidFill>
              </a:rPr>
              <a:t> on yield but are not dominant predictors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09864" y="3533774"/>
            <a:ext cx="2552636" cy="16764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600359" y="372427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76558" y="3817620"/>
            <a:ext cx="228594" cy="19430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095647" y="3781424"/>
            <a:ext cx="120964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2E7D32"/>
                </a:solidFill>
              </a:rPr>
              <a:t>Key Predictor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0359" y="4219575"/>
            <a:ext cx="2171645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</a:rPr>
              <a:t> </a:t>
            </a:r>
            <a:r>
              <a:rPr sz="1196" b="1">
                <a:solidFill>
                  <a:srgbClr val="1B5E20"/>
                </a:solidFill>
              </a:rPr>
              <a:t>Temperature</a:t>
            </a:r>
            <a:r>
              <a:rPr sz="1196" b="0">
                <a:solidFill>
                  <a:srgbClr val="555555"/>
                </a:solidFill>
              </a:rPr>
              <a:t> emerges as the strongest factor affecting crop yield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6733" y="5400675"/>
            <a:ext cx="5286242" cy="819149"/>
          </a:xfrm>
          <a:prstGeom prst="roundRect">
            <a:avLst>
              <a:gd name="adj" fmla="val 18604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6733" y="5400675"/>
            <a:ext cx="5286242" cy="819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1300"/>
              </a:spcBef>
              <a:spcAft>
                <a:spcPts val="0"/>
              </a:spcAft>
            </a:pPr>
            <a:r>
              <a:rPr sz="1435" b="1">
                <a:solidFill>
                  <a:srgbClr val="1B5E20"/>
                </a:solidFill>
              </a:rPr>
              <a:t>Temperature is the most critical factor for yield prediction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8719" y="1904999"/>
            <a:ext cx="5286242" cy="3809999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</a:rPr>
              <a:t>Correlation Heatmap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314450"/>
            <a:ext cx="5286242" cy="12573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57228" y="150495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52476" y="1620492"/>
            <a:ext cx="266693" cy="2261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6813" y="1504950"/>
            <a:ext cx="429566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2E7D32"/>
                </a:solidFill>
              </a:rPr>
              <a:t>Temperature &amp; Rainfall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6813" y="1847849"/>
            <a:ext cx="4295667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</a:rPr>
              <a:t> </a:t>
            </a:r>
            <a:r>
              <a:rPr sz="1196" b="1">
                <a:solidFill>
                  <a:srgbClr val="1B5E20"/>
                </a:solidFill>
              </a:rPr>
              <a:t>Moderate correlation</a:t>
            </a:r>
            <a:r>
              <a:rPr sz="1196" b="0">
                <a:solidFill>
                  <a:srgbClr val="555555"/>
                </a:solidFill>
              </a:rPr>
              <a:t> with crop yield, showing significant influence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2800350"/>
            <a:ext cx="5286242" cy="12573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57228" y="2990849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476" y="3123785"/>
            <a:ext cx="266693" cy="191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66813" y="2990849"/>
            <a:ext cx="429566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2E7D32"/>
                </a:solidFill>
              </a:rPr>
              <a:t>NPK Nutrients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6813" y="3333749"/>
            <a:ext cx="4295667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</a:rPr>
              <a:t> Exhibit </a:t>
            </a:r>
            <a:r>
              <a:rPr sz="1196" b="1">
                <a:solidFill>
                  <a:srgbClr val="1B5E20"/>
                </a:solidFill>
              </a:rPr>
              <a:t>smaller influence</a:t>
            </a:r>
            <a:r>
              <a:rPr sz="1196" b="0">
                <a:solidFill>
                  <a:srgbClr val="555555"/>
                </a:solidFill>
              </a:rPr>
              <a:t> on yield compared to climate factors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4286250"/>
            <a:ext cx="5286242" cy="12573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57228" y="447675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476" y="4627079"/>
            <a:ext cx="266693" cy="15654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66813" y="4476750"/>
            <a:ext cx="429566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2E7D32"/>
                </a:solidFill>
              </a:rPr>
              <a:t>Non-linear Relationships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6813" y="4819650"/>
            <a:ext cx="4295667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</a:rPr>
              <a:t> Dataset contains </a:t>
            </a:r>
            <a:r>
              <a:rPr sz="1196" b="1">
                <a:solidFill>
                  <a:srgbClr val="1B5E20"/>
                </a:solidFill>
              </a:rPr>
              <a:t>complex patterns</a:t>
            </a:r>
            <a:r>
              <a:rPr sz="1196" b="0">
                <a:solidFill>
                  <a:srgbClr val="555555"/>
                </a:solidFill>
              </a:rPr>
              <a:t> requiring advanced modeling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33" y="5772150"/>
            <a:ext cx="5286242" cy="523874"/>
          </a:xfrm>
          <a:prstGeom prst="roundRect">
            <a:avLst>
              <a:gd name="adj" fmla="val 2909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6733" y="5772150"/>
            <a:ext cx="5286242" cy="5238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1560"/>
              </a:spcBef>
              <a:spcAft>
                <a:spcPts val="0"/>
              </a:spcAft>
            </a:pPr>
            <a:r>
              <a:rPr sz="1435" b="1">
                <a:solidFill>
                  <a:srgbClr val="1B5E20"/>
                </a:solidFill>
              </a:rPr>
              <a:t>Climate factors dominate nutrient effects on yield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8719" y="1904999"/>
            <a:ext cx="5286242" cy="3809999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</a:rPr>
              <a:t>ML Models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971675"/>
            <a:ext cx="5286242" cy="1095374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5327" y="2209800"/>
            <a:ext cx="609584" cy="6096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28674" y="2381578"/>
            <a:ext cx="342891" cy="2660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95407" y="2200275"/>
            <a:ext cx="4028974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2E7D32"/>
                </a:solidFill>
              </a:rPr>
              <a:t>Decision Tree Regressor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5407" y="2571750"/>
            <a:ext cx="402897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</a:rPr>
              <a:t> Single tree model with </a:t>
            </a:r>
            <a:r>
              <a:rPr sz="1196" b="1">
                <a:solidFill>
                  <a:srgbClr val="1B5E20"/>
                </a:solidFill>
              </a:rPr>
              <a:t>interpretable</a:t>
            </a:r>
            <a:r>
              <a:rPr sz="1196" b="0">
                <a:solidFill>
                  <a:srgbClr val="555555"/>
                </a:solidFill>
              </a:rPr>
              <a:t> structure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3352800"/>
            <a:ext cx="5286242" cy="1095374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95327" y="3600450"/>
            <a:ext cx="609584" cy="6096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674" y="3760404"/>
            <a:ext cx="342891" cy="2896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95407" y="3581400"/>
            <a:ext cx="4028974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2E7D32"/>
                </a:solidFill>
              </a:rPr>
              <a:t>Random Forest Regressor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5407" y="3952874"/>
            <a:ext cx="402897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</a:rPr>
              <a:t> Ensemble of multiple trees with </a:t>
            </a:r>
            <a:r>
              <a:rPr sz="1196" b="1">
                <a:solidFill>
                  <a:srgbClr val="1B5E20"/>
                </a:solidFill>
              </a:rPr>
              <a:t>higher accuracy</a:t>
            </a:r>
            <a:r>
              <a:rPr sz="1196" b="0">
                <a:solidFill>
                  <a:srgbClr val="555555"/>
                </a:solidFill>
              </a:rPr>
              <a:t>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4733925"/>
            <a:ext cx="5286242" cy="914400"/>
          </a:xfrm>
          <a:prstGeom prst="roundRect">
            <a:avLst>
              <a:gd name="adj" fmla="val 16666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57228" y="4962525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476" y="5091112"/>
            <a:ext cx="266693" cy="2000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66813" y="4924424"/>
            <a:ext cx="4295667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B5E20"/>
                </a:solidFill>
              </a:rPr>
              <a:t> Tree-based models chosen for their ability to handle </a:t>
            </a:r>
            <a:r>
              <a:rPr sz="1196" b="1">
                <a:solidFill>
                  <a:srgbClr val="1B5E20"/>
                </a:solidFill>
              </a:rPr>
              <a:t>non-linear patterns</a:t>
            </a:r>
            <a:r>
              <a:rPr sz="1196" b="0">
                <a:solidFill>
                  <a:srgbClr val="1B5E20"/>
                </a:solidFill>
              </a:rPr>
              <a:t> and </a:t>
            </a:r>
            <a:r>
              <a:rPr sz="1196" b="1">
                <a:solidFill>
                  <a:srgbClr val="1B5E20"/>
                </a:solidFill>
              </a:rPr>
              <a:t>clustered data</a:t>
            </a:r>
            <a:r>
              <a:rPr sz="1196" b="0">
                <a:solidFill>
                  <a:srgbClr val="1B5E20"/>
                </a:solidFill>
              </a:rPr>
              <a:t> in the dataset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8719" y="1904999"/>
            <a:ext cx="5286242" cy="3809999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</a:rPr>
              <a:t>Hyperparameter Tuning (GridSearchCV)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828800"/>
            <a:ext cx="5286242" cy="240030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5327" y="205740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90575" y="2181639"/>
            <a:ext cx="266693" cy="2087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4912" y="2133599"/>
            <a:ext cx="1781130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E7D32"/>
                </a:solidFill>
              </a:rPr>
              <a:t>Tuned Parameters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5327" y="2667000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69" y="2743200"/>
            <a:ext cx="733406" cy="1904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52516" y="2724150"/>
            <a:ext cx="923901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3691E"/>
                </a:solidFill>
              </a:rPr>
              <a:t>max_depth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0815" y="2667000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7013" y="2768413"/>
            <a:ext cx="190495" cy="1400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48003" y="2724150"/>
            <a:ext cx="1543011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3691E"/>
                </a:solidFill>
              </a:rPr>
              <a:t>min_samples_split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5327" y="3162299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1525" y="3252507"/>
            <a:ext cx="190495" cy="1624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52516" y="3219449"/>
            <a:ext cx="1495387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3691E"/>
                </a:solidFill>
              </a:rPr>
              <a:t>min_samples_leaf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0815" y="3162299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67013" y="325250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48003" y="3219449"/>
            <a:ext cx="1076298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3691E"/>
                </a:solidFill>
              </a:rPr>
              <a:t>n_estimators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327" y="3657600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71525" y="3759013"/>
            <a:ext cx="190495" cy="14007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352516" y="3714750"/>
            <a:ext cx="1142971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3691E"/>
                </a:solidFill>
              </a:rPr>
              <a:t>random_state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6733" y="4686300"/>
            <a:ext cx="5286242" cy="1104900"/>
          </a:xfrm>
          <a:prstGeom prst="roundRect">
            <a:avLst>
              <a:gd name="adj" fmla="val 13793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19129" y="504825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95327" y="5141594"/>
            <a:ext cx="228594" cy="19430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52516" y="4838699"/>
            <a:ext cx="4448063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B5E20"/>
                </a:solidFill>
              </a:rPr>
              <a:t> GridSearchCV systematically works through </a:t>
            </a:r>
            <a:r>
              <a:rPr sz="1196" b="1">
                <a:solidFill>
                  <a:srgbClr val="1B5E20"/>
                </a:solidFill>
              </a:rPr>
              <a:t>multiple parameter combinations</a:t>
            </a:r>
            <a:r>
              <a:rPr sz="1196" b="0">
                <a:solidFill>
                  <a:srgbClr val="1B5E20"/>
                </a:solidFill>
              </a:rPr>
              <a:t> to find the optimal model configuration 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8719" y="1904999"/>
            <a:ext cx="5286242" cy="3809999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</a:rPr>
              <a:t>Model Performance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5286242" cy="2028825"/>
          </a:xfrm>
          <a:prstGeom prst="roundRect">
            <a:avLst>
              <a:gd name="adj" fmla="val 75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5327" y="137160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90575" y="1495839"/>
            <a:ext cx="266693" cy="2087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4912" y="1447800"/>
            <a:ext cx="1314417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E7D32"/>
                </a:solidFill>
              </a:rPr>
              <a:t>Decision Tree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5327" y="1981199"/>
            <a:ext cx="2304992" cy="962024"/>
          </a:xfrm>
          <a:prstGeom prst="roundRect">
            <a:avLst>
              <a:gd name="adj" fmla="val 15841"/>
            </a:avLst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52576" y="2133599"/>
            <a:ext cx="180970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33691E"/>
                </a:solidFill>
              </a:rPr>
              <a:t>R²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0655" y="2447924"/>
            <a:ext cx="504812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B5E20"/>
                </a:solidFill>
              </a:rPr>
              <a:t>0.77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14" y="1981199"/>
            <a:ext cx="2304992" cy="962024"/>
          </a:xfrm>
          <a:prstGeom prst="roundRect">
            <a:avLst>
              <a:gd name="adj" fmla="val 15841"/>
            </a:avLst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00439" y="2133599"/>
            <a:ext cx="352416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33691E"/>
                </a:solidFill>
              </a:rPr>
              <a:t>MAE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4241" y="2447924"/>
            <a:ext cx="504812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B5E20"/>
                </a:solidFill>
              </a:rPr>
              <a:t>0.68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3400425"/>
            <a:ext cx="5286242" cy="2028825"/>
          </a:xfrm>
          <a:prstGeom prst="roundRect">
            <a:avLst>
              <a:gd name="adj" fmla="val 75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-265129" y="4332287"/>
            <a:ext cx="20288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05212" y="3552825"/>
            <a:ext cx="1295367" cy="304800"/>
          </a:xfrm>
          <a:prstGeom prst="roundRect">
            <a:avLst>
              <a:gd name="adj" fmla="val 10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9509" y="3633326"/>
            <a:ext cx="171445" cy="1437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48103" y="3609975"/>
            <a:ext cx="83817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Better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2951" y="3629025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8199" y="3744567"/>
            <a:ext cx="266693" cy="22611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52536" y="3714750"/>
            <a:ext cx="1485862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E7D32"/>
                </a:solidFill>
              </a:rPr>
              <a:t>Random Forest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2951" y="4238624"/>
            <a:ext cx="2276418" cy="962024"/>
          </a:xfrm>
          <a:prstGeom prst="roundRect">
            <a:avLst>
              <a:gd name="adj" fmla="val 15841"/>
            </a:avLst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90675" y="4391025"/>
            <a:ext cx="180970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33691E"/>
                </a:solidFill>
              </a:rPr>
              <a:t>R²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62080" y="4705350"/>
            <a:ext cx="647683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B5E20"/>
                </a:solidFill>
              </a:rPr>
              <a:t>0.802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47963" y="4238624"/>
            <a:ext cx="2276418" cy="962024"/>
          </a:xfrm>
          <a:prstGeom prst="roundRect">
            <a:avLst>
              <a:gd name="adj" fmla="val 15841"/>
            </a:avLst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09964" y="4391025"/>
            <a:ext cx="352416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33691E"/>
                </a:solidFill>
              </a:rPr>
              <a:t>MAE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3766" y="4705350"/>
            <a:ext cx="504812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B5E20"/>
                </a:solidFill>
              </a:rPr>
              <a:t>0.68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6733" y="5657850"/>
            <a:ext cx="5286242" cy="838200"/>
          </a:xfrm>
          <a:prstGeom prst="roundRect">
            <a:avLst>
              <a:gd name="adj" fmla="val 18181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19129" y="588645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5327" y="5991225"/>
            <a:ext cx="228594" cy="1714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52516" y="5810249"/>
            <a:ext cx="4448063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B5E20"/>
                </a:solidFill>
              </a:rPr>
              <a:t> Random Forest shows </a:t>
            </a:r>
            <a:r>
              <a:rPr sz="1196" b="1">
                <a:solidFill>
                  <a:srgbClr val="1B5E20"/>
                </a:solidFill>
              </a:rPr>
              <a:t>higher R² value</a:t>
            </a:r>
            <a:r>
              <a:rPr sz="1196" b="0">
                <a:solidFill>
                  <a:srgbClr val="1B5E20"/>
                </a:solidFill>
              </a:rPr>
              <a:t> with same MAE, making it the superior model for yield prediction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8719" y="1914525"/>
            <a:ext cx="5286242" cy="3809999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</a:rPr>
              <a:t>Feature Importance Insights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49CEEDE-7F5B-993F-AA98-13766D0CACFB}"/>
              </a:ext>
            </a:extLst>
          </p:cNvPr>
          <p:cNvGrpSpPr/>
          <p:nvPr/>
        </p:nvGrpSpPr>
        <p:grpSpPr>
          <a:xfrm>
            <a:off x="633397" y="1247771"/>
            <a:ext cx="5286242" cy="5333999"/>
            <a:chOff x="666733" y="1143000"/>
            <a:chExt cx="5286242" cy="5333999"/>
          </a:xfrm>
        </p:grpSpPr>
        <p:sp>
          <p:nvSpPr>
            <p:cNvPr id="4" name="Rounded Rectangle 3"/>
            <p:cNvSpPr/>
            <p:nvPr/>
          </p:nvSpPr>
          <p:spPr>
            <a:xfrm>
              <a:off x="666733" y="1143000"/>
              <a:ext cx="5286242" cy="761999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19129" y="1333500"/>
              <a:ext cx="380990" cy="380999"/>
            </a:xfrm>
            <a:prstGeom prst="roundRect">
              <a:avLst>
                <a:gd name="adj" fmla="val 50000"/>
              </a:avLst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19129" y="1333500"/>
              <a:ext cx="380990" cy="3809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315" b="1">
                  <a:solidFill>
                    <a:srgbClr val="2E7D32"/>
                  </a:solidFill>
                </a:rPr>
                <a:t>1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352516" y="1295399"/>
              <a:ext cx="457188" cy="457200"/>
            </a:xfrm>
            <a:prstGeom prst="roundRect">
              <a:avLst>
                <a:gd name="adj" fmla="val 50000"/>
              </a:avLst>
            </a:prstGeom>
            <a:solidFill>
              <a:srgbClr val="F1F8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8" name="Picture 7" descr="image.png"/>
            <p:cNvPicPr>
              <a:picLocks noChangeAspect="1"/>
            </p:cNvPicPr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447763" y="1410942"/>
              <a:ext cx="266693" cy="226115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962100" y="1390650"/>
              <a:ext cx="1162020" cy="2666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315" b="1">
                  <a:solidFill>
                    <a:srgbClr val="33691E"/>
                  </a:solidFill>
                </a:rPr>
                <a:t>Temperature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276518" y="1466849"/>
              <a:ext cx="2524061" cy="114300"/>
            </a:xfrm>
            <a:prstGeom prst="roundRect">
              <a:avLst>
                <a:gd name="adj" fmla="val 100000"/>
              </a:avLst>
            </a:prstGeom>
            <a:solidFill>
              <a:srgbClr val="E0E0E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276518" y="1466849"/>
              <a:ext cx="2400239" cy="114300"/>
            </a:xfrm>
            <a:prstGeom prst="roundRect">
              <a:avLst>
                <a:gd name="adj" fmla="val 100000"/>
              </a:avLst>
            </a:prstGeom>
            <a:solidFill>
              <a:srgbClr val="4CAF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66733" y="2057400"/>
              <a:ext cx="5286242" cy="761999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19129" y="2247899"/>
              <a:ext cx="380990" cy="380999"/>
            </a:xfrm>
            <a:prstGeom prst="roundRect">
              <a:avLst>
                <a:gd name="adj" fmla="val 50000"/>
              </a:avLst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19129" y="2247899"/>
              <a:ext cx="380990" cy="3809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315" b="1">
                  <a:solidFill>
                    <a:srgbClr val="2E7D32"/>
                  </a:solidFill>
                </a:rPr>
                <a:t>2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352516" y="2209800"/>
              <a:ext cx="457188" cy="457200"/>
            </a:xfrm>
            <a:prstGeom prst="roundRect">
              <a:avLst>
                <a:gd name="adj" fmla="val 50000"/>
              </a:avLst>
            </a:prstGeom>
            <a:solidFill>
              <a:srgbClr val="F1F8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6" name="Picture 15" descr="image.png"/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447763" y="2325342"/>
              <a:ext cx="266693" cy="226115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1962100" y="2305049"/>
              <a:ext cx="685782" cy="2666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315" b="1">
                  <a:solidFill>
                    <a:srgbClr val="33691E"/>
                  </a:solidFill>
                </a:rPr>
                <a:t>Rainfall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2800279" y="2381250"/>
              <a:ext cx="3000299" cy="114300"/>
            </a:xfrm>
            <a:prstGeom prst="roundRect">
              <a:avLst>
                <a:gd name="adj" fmla="val 100000"/>
              </a:avLst>
            </a:prstGeom>
            <a:solidFill>
              <a:srgbClr val="E0E0E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2800279" y="2381250"/>
              <a:ext cx="2400239" cy="114300"/>
            </a:xfrm>
            <a:prstGeom prst="roundRect">
              <a:avLst>
                <a:gd name="adj" fmla="val 100000"/>
              </a:avLst>
            </a:prstGeom>
            <a:solidFill>
              <a:srgbClr val="4CAF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666733" y="2971800"/>
              <a:ext cx="5286242" cy="761999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819129" y="3162299"/>
              <a:ext cx="380990" cy="380999"/>
            </a:xfrm>
            <a:prstGeom prst="roundRect">
              <a:avLst>
                <a:gd name="adj" fmla="val 50000"/>
              </a:avLst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19129" y="3162299"/>
              <a:ext cx="380990" cy="3809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315" b="1">
                  <a:solidFill>
                    <a:srgbClr val="2E7D32"/>
                  </a:solidFill>
                </a:rPr>
                <a:t>3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1352516" y="3124200"/>
              <a:ext cx="457188" cy="457200"/>
            </a:xfrm>
            <a:prstGeom prst="roundRect">
              <a:avLst>
                <a:gd name="adj" fmla="val 50000"/>
              </a:avLst>
            </a:prstGeom>
            <a:solidFill>
              <a:srgbClr val="F1F8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4" name="Picture 23" descr="image.png"/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447763" y="3231045"/>
              <a:ext cx="266693" cy="243508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1962100" y="3219449"/>
              <a:ext cx="809604" cy="2666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315" b="1">
                  <a:solidFill>
                    <a:srgbClr val="33691E"/>
                  </a:solidFill>
                </a:rPr>
                <a:t>Fertilizer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2924101" y="3295650"/>
              <a:ext cx="2876478" cy="114300"/>
            </a:xfrm>
            <a:prstGeom prst="roundRect">
              <a:avLst>
                <a:gd name="adj" fmla="val 100000"/>
              </a:avLst>
            </a:prstGeom>
            <a:solidFill>
              <a:srgbClr val="E0E0E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924101" y="3295650"/>
              <a:ext cx="1876378" cy="114300"/>
            </a:xfrm>
            <a:prstGeom prst="roundRect">
              <a:avLst>
                <a:gd name="adj" fmla="val 100000"/>
              </a:avLst>
            </a:prstGeom>
            <a:solidFill>
              <a:srgbClr val="4CAF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666733" y="3886200"/>
              <a:ext cx="5286242" cy="761999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819129" y="4076699"/>
              <a:ext cx="380990" cy="380999"/>
            </a:xfrm>
            <a:prstGeom prst="roundRect">
              <a:avLst>
                <a:gd name="adj" fmla="val 50000"/>
              </a:avLst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19129" y="4076699"/>
              <a:ext cx="380990" cy="3809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315" b="1">
                  <a:solidFill>
                    <a:srgbClr val="2E7D32"/>
                  </a:solidFill>
                </a:rPr>
                <a:t>4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1352516" y="4038599"/>
              <a:ext cx="457188" cy="457200"/>
            </a:xfrm>
            <a:prstGeom prst="roundRect">
              <a:avLst>
                <a:gd name="adj" fmla="val 50000"/>
              </a:avLst>
            </a:prstGeom>
            <a:solidFill>
              <a:srgbClr val="F1F8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2" name="Picture 31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447763" y="4171535"/>
              <a:ext cx="266693" cy="191328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1962100" y="4133849"/>
              <a:ext cx="1104872" cy="2666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315" b="1">
                  <a:solidFill>
                    <a:srgbClr val="33691E"/>
                  </a:solidFill>
                </a:rPr>
                <a:t>Nitrogen (N)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3219369" y="4210049"/>
              <a:ext cx="2581210" cy="114300"/>
            </a:xfrm>
            <a:prstGeom prst="roundRect">
              <a:avLst>
                <a:gd name="adj" fmla="val 100000"/>
              </a:avLst>
            </a:prstGeom>
            <a:solidFill>
              <a:srgbClr val="E0E0E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3219369" y="4210049"/>
              <a:ext cx="1162020" cy="114300"/>
            </a:xfrm>
            <a:prstGeom prst="roundRect">
              <a:avLst>
                <a:gd name="adj" fmla="val 100000"/>
              </a:avLst>
            </a:prstGeom>
            <a:solidFill>
              <a:srgbClr val="4CAF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666733" y="4800600"/>
              <a:ext cx="5286242" cy="761999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819129" y="4991100"/>
              <a:ext cx="380990" cy="380999"/>
            </a:xfrm>
            <a:prstGeom prst="roundRect">
              <a:avLst>
                <a:gd name="adj" fmla="val 50000"/>
              </a:avLst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19129" y="4991100"/>
              <a:ext cx="380990" cy="3809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315" b="1">
                  <a:solidFill>
                    <a:srgbClr val="2E7D32"/>
                  </a:solidFill>
                </a:rPr>
                <a:t>5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352516" y="4952999"/>
              <a:ext cx="457188" cy="457200"/>
            </a:xfrm>
            <a:prstGeom prst="roundRect">
              <a:avLst>
                <a:gd name="adj" fmla="val 50000"/>
              </a:avLst>
            </a:prstGeom>
            <a:solidFill>
              <a:srgbClr val="F1F8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40" name="Picture 39" descr="image.png"/>
            <p:cNvPicPr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447763" y="5072890"/>
              <a:ext cx="266693" cy="217418"/>
            </a:xfrm>
            <a:prstGeom prst="rect">
              <a:avLst/>
            </a:prstGeom>
          </p:spPr>
        </p:pic>
        <p:sp>
          <p:nvSpPr>
            <p:cNvPr id="41" name="TextBox 40"/>
            <p:cNvSpPr txBox="1"/>
            <p:nvPr/>
          </p:nvSpPr>
          <p:spPr>
            <a:xfrm>
              <a:off x="1962100" y="5048250"/>
              <a:ext cx="1495387" cy="2666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315" b="1">
                  <a:solidFill>
                    <a:srgbClr val="33691E"/>
                  </a:solidFill>
                </a:rPr>
                <a:t>Phosphorous (P)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3609884" y="5124449"/>
              <a:ext cx="2190695" cy="114300"/>
            </a:xfrm>
            <a:prstGeom prst="roundRect">
              <a:avLst>
                <a:gd name="adj" fmla="val 100000"/>
              </a:avLst>
            </a:prstGeom>
            <a:solidFill>
              <a:srgbClr val="E0E0E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3609884" y="5124449"/>
              <a:ext cx="657208" cy="114300"/>
            </a:xfrm>
            <a:prstGeom prst="roundRect">
              <a:avLst>
                <a:gd name="adj" fmla="val 100000"/>
              </a:avLst>
            </a:prstGeom>
            <a:solidFill>
              <a:srgbClr val="4CAF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666733" y="5715000"/>
              <a:ext cx="5286242" cy="761999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819129" y="5905500"/>
              <a:ext cx="380990" cy="380999"/>
            </a:xfrm>
            <a:prstGeom prst="roundRect">
              <a:avLst>
                <a:gd name="adj" fmla="val 50000"/>
              </a:avLst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19129" y="5905500"/>
              <a:ext cx="380990" cy="3809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315" b="1">
                  <a:solidFill>
                    <a:srgbClr val="2E7D32"/>
                  </a:solidFill>
                </a:rPr>
                <a:t>6</a:t>
              </a: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1352516" y="5867399"/>
              <a:ext cx="457188" cy="457200"/>
            </a:xfrm>
            <a:prstGeom prst="roundRect">
              <a:avLst>
                <a:gd name="adj" fmla="val 50000"/>
              </a:avLst>
            </a:prstGeom>
            <a:solidFill>
              <a:srgbClr val="F1F8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48" name="Picture 47" descr="image.png"/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447763" y="6000335"/>
              <a:ext cx="266693" cy="191328"/>
            </a:xfrm>
            <a:prstGeom prst="rect">
              <a:avLst/>
            </a:prstGeom>
          </p:spPr>
        </p:pic>
        <p:sp>
          <p:nvSpPr>
            <p:cNvPr id="49" name="TextBox 48"/>
            <p:cNvSpPr txBox="1"/>
            <p:nvPr/>
          </p:nvSpPr>
          <p:spPr>
            <a:xfrm>
              <a:off x="1962100" y="5962650"/>
              <a:ext cx="1238219" cy="2666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315" b="1">
                  <a:solidFill>
                    <a:srgbClr val="33691E"/>
                  </a:solidFill>
                </a:rPr>
                <a:t>Potassium (K)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3352716" y="6038849"/>
              <a:ext cx="2447863" cy="114300"/>
            </a:xfrm>
            <a:prstGeom prst="roundRect">
              <a:avLst>
                <a:gd name="adj" fmla="val 100000"/>
              </a:avLst>
            </a:prstGeom>
            <a:solidFill>
              <a:srgbClr val="E0E0E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3352716" y="6038849"/>
              <a:ext cx="485762" cy="114300"/>
            </a:xfrm>
            <a:prstGeom prst="roundRect">
              <a:avLst>
                <a:gd name="adj" fmla="val 100000"/>
              </a:avLst>
            </a:prstGeom>
            <a:solidFill>
              <a:srgbClr val="4CAF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8FF3D9B-BE71-9DAB-8347-FC1EAF2621E6}"/>
              </a:ext>
            </a:extLst>
          </p:cNvPr>
          <p:cNvGrpSpPr/>
          <p:nvPr/>
        </p:nvGrpSpPr>
        <p:grpSpPr>
          <a:xfrm>
            <a:off x="6238719" y="1283969"/>
            <a:ext cx="5286242" cy="838200"/>
            <a:chOff x="666733" y="6705600"/>
            <a:chExt cx="5286242" cy="838200"/>
          </a:xfrm>
        </p:grpSpPr>
        <p:sp>
          <p:nvSpPr>
            <p:cNvPr id="52" name="Rounded Rectangle 51"/>
            <p:cNvSpPr/>
            <p:nvPr/>
          </p:nvSpPr>
          <p:spPr>
            <a:xfrm>
              <a:off x="666733" y="6705600"/>
              <a:ext cx="5286242" cy="838200"/>
            </a:xfrm>
            <a:prstGeom prst="roundRect">
              <a:avLst>
                <a:gd name="adj" fmla="val 18181"/>
              </a:avLst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819129" y="6934200"/>
              <a:ext cx="380990" cy="380999"/>
            </a:xfrm>
            <a:prstGeom prst="roundRect">
              <a:avLst>
                <a:gd name="adj" fmla="val 50000"/>
              </a:avLst>
            </a:prstGeom>
            <a:solidFill>
              <a:srgbClr val="C8E6C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54" name="Picture 53" descr="image.png"/>
            <p:cNvPicPr>
              <a:picLocks noChangeAspect="1"/>
            </p:cNvPicPr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95327" y="7027544"/>
              <a:ext cx="228594" cy="194309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1352516" y="6858000"/>
              <a:ext cx="4448063" cy="533399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1B5E20"/>
                  </a:solidFill>
                </a:rPr>
                <a:t> </a:t>
              </a:r>
              <a:r>
                <a:rPr sz="1196" b="1">
                  <a:solidFill>
                    <a:srgbClr val="1B5E20"/>
                  </a:solidFill>
                </a:rPr>
                <a:t>Climate factors</a:t>
              </a:r>
              <a:r>
                <a:rPr sz="1196" b="0">
                  <a:solidFill>
                    <a:srgbClr val="1B5E20"/>
                  </a:solidFill>
                </a:rPr>
                <a:t> dominate nutrient effects in predicting crop yield </a:t>
              </a:r>
            </a:p>
          </p:txBody>
        </p:sp>
      </p:grpSp>
      <p:sp>
        <p:nvSpPr>
          <p:cNvPr id="56" name="Rectangle 55"/>
          <p:cNvSpPr/>
          <p:nvPr/>
        </p:nvSpPr>
        <p:spPr>
          <a:xfrm>
            <a:off x="6238719" y="2438400"/>
            <a:ext cx="5286242" cy="3809999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</a:rPr>
              <a:t>Conclusion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94B880A-01AB-2BEA-19B2-27157AE35C3D}"/>
              </a:ext>
            </a:extLst>
          </p:cNvPr>
          <p:cNvGrpSpPr/>
          <p:nvPr/>
        </p:nvGrpSpPr>
        <p:grpSpPr>
          <a:xfrm>
            <a:off x="466712" y="1238247"/>
            <a:ext cx="5286242" cy="5524499"/>
            <a:chOff x="666733" y="1143000"/>
            <a:chExt cx="5286242" cy="5524499"/>
          </a:xfrm>
        </p:grpSpPr>
        <p:sp>
          <p:nvSpPr>
            <p:cNvPr id="4" name="Rounded Rectangle 3"/>
            <p:cNvSpPr/>
            <p:nvPr/>
          </p:nvSpPr>
          <p:spPr>
            <a:xfrm>
              <a:off x="666733" y="1143000"/>
              <a:ext cx="5286242" cy="1238249"/>
            </a:xfrm>
            <a:prstGeom prst="roundRect">
              <a:avLst>
                <a:gd name="adj" fmla="val 12307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57228" y="1333500"/>
              <a:ext cx="457188" cy="457200"/>
            </a:xfrm>
            <a:prstGeom prst="roundRect">
              <a:avLst>
                <a:gd name="adj" fmla="val 50000"/>
              </a:avLst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6" name="Picture 5" descr="image.png"/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52476" y="1459188"/>
              <a:ext cx="266693" cy="205822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1466813" y="1333500"/>
              <a:ext cx="4295667" cy="2666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390"/>
                </a:spcAft>
              </a:pPr>
              <a:r>
                <a:rPr sz="1315" b="1">
                  <a:solidFill>
                    <a:srgbClr val="2E7D32"/>
                  </a:solidFill>
                </a:rPr>
                <a:t>Two Crop Patterns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466813" y="1657350"/>
              <a:ext cx="4295667" cy="533399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555555"/>
                  </a:solidFill>
                </a:rPr>
                <a:t> Dataset reveals </a:t>
              </a:r>
              <a:r>
                <a:rPr sz="1196" b="1">
                  <a:solidFill>
                    <a:srgbClr val="1B5E20"/>
                  </a:solidFill>
                </a:rPr>
                <a:t>distinct clusters</a:t>
              </a:r>
              <a:r>
                <a:rPr sz="1196" b="0">
                  <a:solidFill>
                    <a:srgbClr val="555555"/>
                  </a:solidFill>
                </a:rPr>
                <a:t> indicating different crop types or seasons 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66733" y="2571750"/>
              <a:ext cx="5286242" cy="1238249"/>
            </a:xfrm>
            <a:prstGeom prst="roundRect">
              <a:avLst>
                <a:gd name="adj" fmla="val 12307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57228" y="2762249"/>
              <a:ext cx="457188" cy="457200"/>
            </a:xfrm>
            <a:prstGeom prst="roundRect">
              <a:avLst>
                <a:gd name="adj" fmla="val 50000"/>
              </a:avLst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1" name="Picture 10" descr="image.png"/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52476" y="2877792"/>
              <a:ext cx="266693" cy="226115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1466813" y="2762249"/>
              <a:ext cx="4295667" cy="2666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390"/>
                </a:spcAft>
              </a:pPr>
              <a:r>
                <a:rPr sz="1315" b="1">
                  <a:solidFill>
                    <a:srgbClr val="2E7D32"/>
                  </a:solidFill>
                </a:rPr>
                <a:t>Temperature Dominance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466813" y="3086100"/>
              <a:ext cx="4295667" cy="533399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555555"/>
                  </a:solidFill>
                </a:rPr>
                <a:t> </a:t>
              </a:r>
              <a:r>
                <a:rPr sz="1196" b="1">
                  <a:solidFill>
                    <a:srgbClr val="1B5E20"/>
                  </a:solidFill>
                </a:rPr>
                <a:t>Highest influence</a:t>
              </a:r>
              <a:r>
                <a:rPr sz="1196" b="0">
                  <a:solidFill>
                    <a:srgbClr val="555555"/>
                  </a:solidFill>
                </a:rPr>
                <a:t> on yield among all environmental factors 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66733" y="4000500"/>
              <a:ext cx="5286242" cy="1238249"/>
            </a:xfrm>
            <a:prstGeom prst="roundRect">
              <a:avLst>
                <a:gd name="adj" fmla="val 12307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857228" y="4190999"/>
              <a:ext cx="457188" cy="457200"/>
            </a:xfrm>
            <a:prstGeom prst="roundRect">
              <a:avLst>
                <a:gd name="adj" fmla="val 50000"/>
              </a:avLst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6" name="Picture 15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52476" y="4306542"/>
              <a:ext cx="266693" cy="226115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1466813" y="4190999"/>
              <a:ext cx="4295667" cy="2666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390"/>
                </a:spcAft>
              </a:pPr>
              <a:r>
                <a:rPr sz="1315" b="1">
                  <a:solidFill>
                    <a:srgbClr val="2E7D32"/>
                  </a:solidFill>
                </a:rPr>
                <a:t>Best Performing Model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466813" y="4514850"/>
              <a:ext cx="4295667" cy="533399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555555"/>
                  </a:solidFill>
                </a:rPr>
                <a:t> </a:t>
              </a:r>
              <a:r>
                <a:rPr sz="1196" b="1">
                  <a:solidFill>
                    <a:srgbClr val="1B5E20"/>
                  </a:solidFill>
                </a:rPr>
                <a:t>Random Forest</a:t>
              </a:r>
              <a:r>
                <a:rPr sz="1196" b="0">
                  <a:solidFill>
                    <a:srgbClr val="555555"/>
                  </a:solidFill>
                </a:rPr>
                <a:t> outperforms Decision Tree with higher R² value 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66733" y="5429250"/>
              <a:ext cx="5286242" cy="1238249"/>
            </a:xfrm>
            <a:prstGeom prst="roundRect">
              <a:avLst>
                <a:gd name="adj" fmla="val 12307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857228" y="5619750"/>
              <a:ext cx="457188" cy="457200"/>
            </a:xfrm>
            <a:prstGeom prst="roundRect">
              <a:avLst>
                <a:gd name="adj" fmla="val 50000"/>
              </a:avLst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1" name="Picture 20" descr="image.png"/>
            <p:cNvPicPr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52476" y="5746888"/>
              <a:ext cx="266693" cy="202923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1466813" y="5619750"/>
              <a:ext cx="4295667" cy="2666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390"/>
                </a:spcAft>
              </a:pPr>
              <a:r>
                <a:rPr sz="1315" b="1">
                  <a:solidFill>
                    <a:srgbClr val="2E7D32"/>
                  </a:solidFill>
                </a:rPr>
                <a:t>Smart Agriculture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466813" y="5943600"/>
              <a:ext cx="4295667" cy="533399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555555"/>
                  </a:solidFill>
                </a:rPr>
                <a:t> ML models can support </a:t>
              </a:r>
              <a:r>
                <a:rPr sz="1196" b="1">
                  <a:solidFill>
                    <a:srgbClr val="1B5E20"/>
                  </a:solidFill>
                </a:rPr>
                <a:t>data-driven decisions</a:t>
              </a:r>
              <a:r>
                <a:rPr sz="1196" b="0">
                  <a:solidFill>
                    <a:srgbClr val="555555"/>
                  </a:solidFill>
                </a:rPr>
                <a:t> for improved farming 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8012613-D3BE-CB2C-B419-BB51C5AAB204}"/>
              </a:ext>
            </a:extLst>
          </p:cNvPr>
          <p:cNvGrpSpPr/>
          <p:nvPr/>
        </p:nvGrpSpPr>
        <p:grpSpPr>
          <a:xfrm>
            <a:off x="6238719" y="1304925"/>
            <a:ext cx="5286242" cy="971550"/>
            <a:chOff x="666733" y="6896099"/>
            <a:chExt cx="5286242" cy="971550"/>
          </a:xfrm>
        </p:grpSpPr>
        <p:sp>
          <p:nvSpPr>
            <p:cNvPr id="24" name="Rounded Rectangle 23"/>
            <p:cNvSpPr/>
            <p:nvPr/>
          </p:nvSpPr>
          <p:spPr>
            <a:xfrm>
              <a:off x="666733" y="6896099"/>
              <a:ext cx="5286242" cy="971550"/>
            </a:xfrm>
            <a:prstGeom prst="roundRect">
              <a:avLst>
                <a:gd name="adj" fmla="val 15686"/>
              </a:avLst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857228" y="7153274"/>
              <a:ext cx="457188" cy="457200"/>
            </a:xfrm>
            <a:prstGeom prst="roundRect">
              <a:avLst>
                <a:gd name="adj" fmla="val 50000"/>
              </a:avLst>
            </a:prstGeom>
            <a:solidFill>
              <a:srgbClr val="C8E6C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6" name="Picture 25" descr="image.png"/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952476" y="7268817"/>
              <a:ext cx="266693" cy="226115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1466813" y="7086600"/>
              <a:ext cx="4295667" cy="590549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lnSpc>
                  <a:spcPts val="1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15" b="1">
                  <a:solidFill>
                    <a:srgbClr val="1B5E20"/>
                  </a:solidFill>
                </a:rPr>
                <a:t>Machine learning enables precise yield prediction for smarter agricultural planning</a:t>
              </a:r>
            </a:p>
          </p:txBody>
        </p:sp>
      </p:grpSp>
      <p:sp>
        <p:nvSpPr>
          <p:cNvPr id="28" name="Rectangle 27"/>
          <p:cNvSpPr/>
          <p:nvPr/>
        </p:nvSpPr>
        <p:spPr>
          <a:xfrm>
            <a:off x="6238719" y="2600325"/>
            <a:ext cx="5286242" cy="3809999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</a:rPr>
              <a:t>Limitations &amp; Future Improvements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285875"/>
            <a:ext cx="2552636" cy="1828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57228" y="147637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33426" y="1604010"/>
            <a:ext cx="228594" cy="1257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52516" y="1533525"/>
            <a:ext cx="151443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2E7D32"/>
                </a:solidFill>
              </a:rPr>
              <a:t>Missing Soil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28" y="1971675"/>
            <a:ext cx="2171645" cy="9524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</a:rPr>
              <a:t> Lack of comprehensive </a:t>
            </a:r>
            <a:r>
              <a:rPr sz="1196" b="1">
                <a:solidFill>
                  <a:srgbClr val="1B5E20"/>
                </a:solidFill>
              </a:rPr>
              <a:t>soil parameters</a:t>
            </a:r>
            <a:r>
              <a:rPr sz="1196" b="0">
                <a:solidFill>
                  <a:srgbClr val="555555"/>
                </a:solidFill>
              </a:rPr>
              <a:t> affecting prediction accuracy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9864" y="1285875"/>
            <a:ext cx="2552636" cy="1828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600359" y="155257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6558" y="1635918"/>
            <a:ext cx="228594" cy="2143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095647" y="1476375"/>
            <a:ext cx="1676358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2E7D32"/>
                </a:solidFill>
              </a:rPr>
              <a:t>Environmental Factors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359" y="2124075"/>
            <a:ext cx="2171645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</a:rPr>
              <a:t> Missing </a:t>
            </a:r>
            <a:r>
              <a:rPr sz="1196" b="1">
                <a:solidFill>
                  <a:srgbClr val="1B5E20"/>
                </a:solidFill>
              </a:rPr>
              <a:t>humidity</a:t>
            </a:r>
            <a:r>
              <a:rPr sz="1196" b="0">
                <a:solidFill>
                  <a:srgbClr val="555555"/>
                </a:solidFill>
              </a:rPr>
              <a:t>, </a:t>
            </a:r>
            <a:r>
              <a:rPr sz="1196" b="1">
                <a:solidFill>
                  <a:srgbClr val="1B5E20"/>
                </a:solidFill>
              </a:rPr>
              <a:t>sunlight</a:t>
            </a:r>
            <a:r>
              <a:rPr sz="1196" b="0">
                <a:solidFill>
                  <a:srgbClr val="555555"/>
                </a:solidFill>
              </a:rPr>
              <a:t>, and </a:t>
            </a:r>
            <a:r>
              <a:rPr sz="1196" b="1">
                <a:solidFill>
                  <a:srgbClr val="1B5E20"/>
                </a:solidFill>
              </a:rPr>
              <a:t>soil pH</a:t>
            </a:r>
            <a:r>
              <a:rPr sz="1196" b="0">
                <a:solidFill>
                  <a:srgbClr val="555555"/>
                </a:solidFill>
              </a:rPr>
              <a:t> measurements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3305174"/>
            <a:ext cx="2552636" cy="1828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57228" y="357187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3426" y="3690937"/>
            <a:ext cx="228594" cy="1428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2516" y="3495675"/>
            <a:ext cx="1676358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2E7D32"/>
                </a:solidFill>
              </a:rPr>
              <a:t>Crop Identification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28" y="4143375"/>
            <a:ext cx="2171645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</a:rPr>
              <a:t> No </a:t>
            </a:r>
            <a:r>
              <a:rPr sz="1196" b="1">
                <a:solidFill>
                  <a:srgbClr val="1B5E20"/>
                </a:solidFill>
              </a:rPr>
              <a:t>crop type labels</a:t>
            </a:r>
            <a:r>
              <a:rPr sz="1196" b="0">
                <a:solidFill>
                  <a:srgbClr val="555555"/>
                </a:solidFill>
              </a:rPr>
              <a:t> to differentiate between various crops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09864" y="3305174"/>
            <a:ext cx="2552636" cy="1828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600359" y="349567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76558" y="3587591"/>
            <a:ext cx="228594" cy="19716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095647" y="3552825"/>
            <a:ext cx="156206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2E7D32"/>
                </a:solidFill>
              </a:rPr>
              <a:t>Advanced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0359" y="3990974"/>
            <a:ext cx="2171645" cy="9524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</a:rPr>
              <a:t> Potential to add </a:t>
            </a:r>
            <a:r>
              <a:rPr sz="1196" b="1">
                <a:solidFill>
                  <a:srgbClr val="1B5E20"/>
                </a:solidFill>
              </a:rPr>
              <a:t>boosting models</a:t>
            </a:r>
            <a:r>
              <a:rPr sz="1196" b="0">
                <a:solidFill>
                  <a:srgbClr val="555555"/>
                </a:solidFill>
              </a:rPr>
              <a:t> (XGBoost, CatBoost)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6733" y="5362575"/>
            <a:ext cx="5286242" cy="971550"/>
          </a:xfrm>
          <a:prstGeom prst="roundRect">
            <a:avLst>
              <a:gd name="adj" fmla="val 15686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57228" y="561975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2476" y="5743989"/>
            <a:ext cx="266693" cy="20872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466813" y="5553074"/>
            <a:ext cx="4295667" cy="5905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B5E20"/>
                </a:solidFill>
              </a:rPr>
              <a:t>Build interactive web dashboard for farmers to access predictions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8719" y="1904999"/>
            <a:ext cx="5286242" cy="3809999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</a:rPr>
              <a:t>Acknowledgements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5308" y="1219200"/>
            <a:ext cx="5286242" cy="1362075"/>
          </a:xfrm>
          <a:prstGeom prst="roundRect">
            <a:avLst>
              <a:gd name="adj" fmla="val 1118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5327" y="1523999"/>
            <a:ext cx="609584" cy="6096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28674" y="1695778"/>
            <a:ext cx="342891" cy="2660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33506" y="1371600"/>
            <a:ext cx="3990875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2E7D32"/>
                </a:solidFill>
              </a:rPr>
              <a:t>SURE Trust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3506" y="1743075"/>
            <a:ext cx="3990875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</a:rPr>
              <a:t>For providing the platform and resources to pursue this project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7F14B63-C1AA-B3B8-49A4-DA5CE6957652}"/>
              </a:ext>
            </a:extLst>
          </p:cNvPr>
          <p:cNvGrpSpPr/>
          <p:nvPr/>
        </p:nvGrpSpPr>
        <p:grpSpPr>
          <a:xfrm>
            <a:off x="666733" y="2627864"/>
            <a:ext cx="5286242" cy="1362075"/>
            <a:chOff x="666733" y="2790824"/>
            <a:chExt cx="5286242" cy="1362075"/>
          </a:xfrm>
        </p:grpSpPr>
        <p:sp>
          <p:nvSpPr>
            <p:cNvPr id="9" name="Rounded Rectangle 8"/>
            <p:cNvSpPr/>
            <p:nvPr/>
          </p:nvSpPr>
          <p:spPr>
            <a:xfrm>
              <a:off x="666733" y="2790824"/>
              <a:ext cx="5286242" cy="1362075"/>
            </a:xfrm>
            <a:prstGeom prst="roundRect">
              <a:avLst>
                <a:gd name="adj" fmla="val 11188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95327" y="3162299"/>
              <a:ext cx="609584" cy="609600"/>
            </a:xfrm>
            <a:prstGeom prst="roundRect">
              <a:avLst>
                <a:gd name="adj" fmla="val 50000"/>
              </a:avLst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1" name="Picture 10" descr="image.png"/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8674" y="3334078"/>
              <a:ext cx="342891" cy="266043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1733506" y="3019424"/>
              <a:ext cx="3990875" cy="2952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435" b="1">
                  <a:solidFill>
                    <a:srgbClr val="2E7D32"/>
                  </a:solidFill>
                </a:rPr>
                <a:t>Instructor: </a:t>
              </a:r>
              <a:r>
                <a:rPr sz="1435" b="1">
                  <a:solidFill>
                    <a:srgbClr val="1B5E20"/>
                  </a:solidFill>
                </a:rPr>
                <a:t>Bhargavesh Dakka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733506" y="3390899"/>
              <a:ext cx="3990875" cy="533399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555555"/>
                  </a:solidFill>
                </a:rPr>
                <a:t>For invaluable guidance, mentorship, and technical expertise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33EE38A-7314-5774-DDB5-F6C652321EF4}"/>
              </a:ext>
            </a:extLst>
          </p:cNvPr>
          <p:cNvGrpSpPr/>
          <p:nvPr/>
        </p:nvGrpSpPr>
        <p:grpSpPr>
          <a:xfrm>
            <a:off x="666733" y="4081461"/>
            <a:ext cx="5286242" cy="1362075"/>
            <a:chOff x="666733" y="4438649"/>
            <a:chExt cx="5286242" cy="1362075"/>
          </a:xfrm>
        </p:grpSpPr>
        <p:sp>
          <p:nvSpPr>
            <p:cNvPr id="14" name="Rounded Rectangle 13"/>
            <p:cNvSpPr/>
            <p:nvPr/>
          </p:nvSpPr>
          <p:spPr>
            <a:xfrm>
              <a:off x="666733" y="4438649"/>
              <a:ext cx="5286242" cy="1362075"/>
            </a:xfrm>
            <a:prstGeom prst="roundRect">
              <a:avLst>
                <a:gd name="adj" fmla="val 11188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895327" y="4819650"/>
              <a:ext cx="609584" cy="609600"/>
            </a:xfrm>
            <a:prstGeom prst="roundRect">
              <a:avLst>
                <a:gd name="adj" fmla="val 50000"/>
              </a:avLst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6" name="Picture 15" descr="image.png"/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8674" y="5032812"/>
              <a:ext cx="342891" cy="183274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1733506" y="4667249"/>
              <a:ext cx="3990875" cy="2952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435" b="1">
                  <a:solidFill>
                    <a:srgbClr val="2E7D32"/>
                  </a:solidFill>
                </a:rPr>
                <a:t>Support &amp; Guidance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733506" y="5038724"/>
              <a:ext cx="3990875" cy="533399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6" b="0" dirty="0">
                  <a:solidFill>
                    <a:srgbClr val="555555"/>
                  </a:solidFill>
                </a:rPr>
                <a:t>To all who provided feedback and encouragement throughout this journey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26E59B6-3BB8-99DB-829E-9AE835EAD630}"/>
              </a:ext>
            </a:extLst>
          </p:cNvPr>
          <p:cNvGrpSpPr/>
          <p:nvPr/>
        </p:nvGrpSpPr>
        <p:grpSpPr>
          <a:xfrm>
            <a:off x="666733" y="5600700"/>
            <a:ext cx="5286242" cy="971550"/>
            <a:chOff x="666733" y="6086475"/>
            <a:chExt cx="5286242" cy="971550"/>
          </a:xfrm>
        </p:grpSpPr>
        <p:sp>
          <p:nvSpPr>
            <p:cNvPr id="19" name="Rounded Rectangle 18"/>
            <p:cNvSpPr/>
            <p:nvPr/>
          </p:nvSpPr>
          <p:spPr>
            <a:xfrm>
              <a:off x="666733" y="6086475"/>
              <a:ext cx="5286242" cy="971550"/>
            </a:xfrm>
            <a:prstGeom prst="roundRect">
              <a:avLst>
                <a:gd name="adj" fmla="val 15686"/>
              </a:avLst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857228" y="6343650"/>
              <a:ext cx="457188" cy="457200"/>
            </a:xfrm>
            <a:prstGeom prst="roundRect">
              <a:avLst>
                <a:gd name="adj" fmla="val 50000"/>
              </a:avLst>
            </a:prstGeom>
            <a:solidFill>
              <a:srgbClr val="C8E6C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1" name="Picture 20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52476" y="6466439"/>
              <a:ext cx="266693" cy="211620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1466813" y="6276975"/>
              <a:ext cx="4295667" cy="590549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lnSpc>
                  <a:spcPts val="19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15" b="1" dirty="0">
                  <a:solidFill>
                    <a:srgbClr val="1B5E20"/>
                  </a:solidFill>
                </a:rPr>
                <a:t>Sincere gratitude for making this project possible</a:t>
              </a:r>
            </a:p>
          </p:txBody>
        </p:sp>
      </p:grpSp>
      <p:sp>
        <p:nvSpPr>
          <p:cNvPr id="23" name="Rectangle 22"/>
          <p:cNvSpPr/>
          <p:nvPr/>
        </p:nvSpPr>
        <p:spPr>
          <a:xfrm>
            <a:off x="6238719" y="2190749"/>
            <a:ext cx="5286242" cy="3809999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976D2">
                  <a:alpha val="85000"/>
                </a:srgbClr>
              </a:gs>
              <a:gs pos="100000">
                <a:srgbClr val="1565C0">
                  <a:alpha val="75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486162" y="1066799"/>
            <a:ext cx="3219369" cy="838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600"/>
              </a:spcAft>
            </a:pPr>
            <a:r>
              <a:rPr sz="4186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62200" y="2286000"/>
            <a:ext cx="6276818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900"/>
              </a:spcAft>
            </a:pPr>
            <a:r>
              <a:rPr sz="1435" b="0">
                <a:solidFill>
                  <a:srgbClr val="E3F2FD"/>
                </a:solidFill>
              </a:rPr>
              <a:t>For your attention and interest in our Crop Yield Prediction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52636" y="3352800"/>
            <a:ext cx="7086422" cy="1600200"/>
          </a:xfrm>
          <a:prstGeom prst="roundRect">
            <a:avLst>
              <a:gd name="adj" fmla="val 14285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81230" y="3581400"/>
            <a:ext cx="1142971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52796" y="3857625"/>
            <a:ext cx="525766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FFFFFF"/>
                </a:solidFill>
              </a:rPr>
              <a:t>Project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2796" y="4200525"/>
            <a:ext cx="5257668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3F2FD"/>
                </a:solidFill>
              </a:rPr>
              <a:t>Scan to access the complete code, dataset, and documentation on GitHub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1350" y="5562185"/>
            <a:ext cx="266693" cy="1913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62340" y="5534025"/>
            <a:ext cx="1257268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3F2FD"/>
                </a:solidFill>
              </a:rPr>
              <a:t>Pushkarjay Ajay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0599" y="5562185"/>
            <a:ext cx="266693" cy="1913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10796" y="5505675"/>
            <a:ext cx="1970348" cy="2948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96" b="0" dirty="0">
                <a:solidFill>
                  <a:srgbClr val="E3F2FD"/>
                </a:solidFill>
              </a:rPr>
              <a:t>Pushkarjay.ajay1@gmail.com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35C27F4-11D1-D482-4EAF-E405037754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2715" y="3702900"/>
            <a:ext cx="900000" cy="9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698</Words>
  <Application>Microsoft Office PowerPoint</Application>
  <PresentationFormat>Widescreen</PresentationFormat>
  <Paragraphs>146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Pushkarjay Ajay</cp:lastModifiedBy>
  <cp:revision>4</cp:revision>
  <dcterms:created xsi:type="dcterms:W3CDTF">2013-01-27T09:14:16Z</dcterms:created>
  <dcterms:modified xsi:type="dcterms:W3CDTF">2025-11-16T16:39:07Z</dcterms:modified>
  <cp:category/>
</cp:coreProperties>
</file>